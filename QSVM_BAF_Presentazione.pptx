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1097280"/>
            <a:ext cx="12115800" cy="4114800"/>
          </a:xfrm>
          <a:prstGeom prst="rect">
            <a:avLst/>
          </a:prstGeom>
          <a:solidFill>
            <a:srgbClr val="0F1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1097280"/>
            <a:ext cx="54864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QUANTUM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QSVM per il Rilevamento di Frodi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423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C41A"/>
                </a:solidFill>
              </a:rPr>
              <a:t>Bank Account Fraud Detection – NeurIPS 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154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8C5D6"/>
                </a:solidFill>
              </a:rPr>
              <a:t>Analisi comparativa di Quantum SVM (6, 7 e 8 qubit) tramite ZZFeatureMap
con riduzione dimensionale PCA + Mutual Information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4297680"/>
            <a:ext cx="1152144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6"/>
                </a:solidFill>
              </a:rPr>
              <a:t>Università degli Studi  •  Progetto di Quantum Computing  • 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1463040"/>
            <a:ext cx="2286000" cy="2286000"/>
          </a:xfrm>
          <a:prstGeom prst="rect">
            <a:avLst/>
          </a:prstGeom>
          <a:solidFill>
            <a:srgbClr val="14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0" y="1554480"/>
            <a:ext cx="1828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0" i="0">
                <a:solidFill>
                  <a:srgbClr val="005F7A"/>
                </a:solidFill>
              </a:rPr>
              <a:t>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1168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</a:rPr>
              <a:t>6
Qubit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9728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9728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807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Obiettivi del Progetto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4591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Rilevamento frodi bancarie con kernel quantistici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075687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084831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29967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Dataset &amp;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35000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BAF NeurIPS 2022 • Preprocessing • Feature Selection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79776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88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340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Architettura QSVM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540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ZZFeatureMap • Compute-Uncompute • 6 Qubit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83863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4930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381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Risultati – Modello 6 Qubit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758183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QSVM vs SVM Lineare vs SVM RBF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187952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9709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42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Confronto 6 vs 7 vs 8 Qubit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46227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Analisi dell'impatto dell'aumento dimensionale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901183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46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Perché i qubit in più peggiorano?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663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Kernel Concentration &amp; Curse of Dimensionality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596128"/>
            <a:ext cx="502920" cy="5029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60527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0E1A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550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Conclusioni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87044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Sweet spot, limiti e sviluppi futuri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|  Obiettivi del Progetto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65760" y="1188720"/>
            <a:ext cx="5394960" cy="512064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🎯 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5D6"/>
                </a:solidFill>
              </a:rPr>
              <a:t>Rilevare transazioni fraudolente nell'apertura di conti bancari usando un classificatore basato su kernel quantistico (QSVM).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📊 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56616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8C5D6"/>
                </a:solidFill>
              </a:rPr>
              <a:t>Bank Account Fraud (BAF) – NeurIPS 2022
• ~1 milione di record
• Sbilanciamento classi ~1-2% di frodi
• 30+ feature tabellari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577840" cy="512064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41A"/>
                </a:solidFill>
              </a:rPr>
              <a:t>🔬  Approccio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202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6"/>
                </a:solidFill>
              </a:rPr>
              <a:t>▶  Implementare pipeline QSVM end-to-end con Qiskit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974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6"/>
                </a:solidFill>
              </a:rPr>
              <a:t>▶  Riduzione dimensionale: PCA(5) + top-MI 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747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6"/>
                </a:solidFill>
              </a:rPr>
              <a:t>▶  Kernel quantistico: ZZFeatureMap 6 qubit + compute-uncompute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519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6"/>
                </a:solidFill>
              </a:rPr>
              <a:t>▶  Confronto con SVM Lineare e SVM RBF classiche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0292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B8C5D6"/>
                </a:solidFill>
              </a:rPr>
              <a:t>▶  Analisi dell'impatto: 6, 7 e 8 qubit a confronto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|  Dataset &amp; Pipeline Completa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35024" y="1737360"/>
            <a:ext cx="91440" cy="0"/>
          </a:xfrm>
          <a:prstGeom prst="line">
            <a:avLst/>
          </a:prstGeom>
          <a:ln w="19050">
            <a:solidFill>
              <a:srgbClr val="44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274320" y="128016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060704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35331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645919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Caricamento
BAF Dataset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87168" y="1737360"/>
            <a:ext cx="91440" cy="0"/>
          </a:xfrm>
          <a:prstGeom prst="line">
            <a:avLst/>
          </a:prstGeom>
          <a:ln w="19050">
            <a:solidFill>
              <a:srgbClr val="44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426464" y="128016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26464" y="1280160"/>
            <a:ext cx="1060704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6464" y="135331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26464" y="1645919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Preprocessing
(encode, impute, scale)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9311" y="1737360"/>
            <a:ext cx="91440" cy="0"/>
          </a:xfrm>
          <a:prstGeom prst="line">
            <a:avLst/>
          </a:prstGeom>
          <a:ln w="19050">
            <a:solidFill>
              <a:srgbClr val="44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578608" y="128016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608" y="1280160"/>
            <a:ext cx="1060704" cy="64008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8608" y="135331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8CAE4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1645919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Mutual
Information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91456" y="1737360"/>
            <a:ext cx="91440" cy="0"/>
          </a:xfrm>
          <a:prstGeom prst="line">
            <a:avLst/>
          </a:prstGeom>
          <a:ln w="19050">
            <a:solidFill>
              <a:srgbClr val="44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730752" y="128016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30752" y="1280160"/>
            <a:ext cx="1060704" cy="64008"/>
          </a:xfrm>
          <a:prstGeom prst="rect">
            <a:avLst/>
          </a:prstGeom>
          <a:solidFill>
            <a:srgbClr val="FF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135331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41A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1645919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PCA(5) +
Top-MI feature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82896" y="128016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82896" y="1280160"/>
            <a:ext cx="1060704" cy="64008"/>
          </a:xfrm>
          <a:prstGeom prst="rect">
            <a:avLst/>
          </a:prstGeom>
          <a:solidFill>
            <a:srgbClr val="F7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82896" y="135331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A000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2896" y="1645919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Bilanciamento
(150+150=300)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335024" y="3931920"/>
            <a:ext cx="91440" cy="0"/>
          </a:xfrm>
          <a:prstGeom prst="line">
            <a:avLst/>
          </a:prstGeom>
          <a:ln w="19050">
            <a:solidFill>
              <a:srgbClr val="44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74320" y="347472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474720"/>
            <a:ext cx="1060704" cy="64008"/>
          </a:xfrm>
          <a:prstGeom prst="rect">
            <a:avLst/>
          </a:prstGeom>
          <a:solidFill>
            <a:srgbClr val="FF7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54787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C43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840480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Scaling
Angolare [-π,π]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87168" y="3931920"/>
            <a:ext cx="91440" cy="0"/>
          </a:xfrm>
          <a:prstGeom prst="line">
            <a:avLst/>
          </a:prstGeom>
          <a:ln w="19050">
            <a:solidFill>
              <a:srgbClr val="44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1426464" y="347472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26464" y="3474720"/>
            <a:ext cx="1060704" cy="64008"/>
          </a:xfrm>
          <a:prstGeom prst="rect">
            <a:avLst/>
          </a:prstGeom>
          <a:solidFill>
            <a:srgbClr val="FF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26464" y="354787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5555"/>
                </a:solidFill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6464" y="3840480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Train/Test
75/25 stratificato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639311" y="3931920"/>
            <a:ext cx="91440" cy="0"/>
          </a:xfrm>
          <a:prstGeom prst="line">
            <a:avLst/>
          </a:prstGeom>
          <a:ln w="19050">
            <a:solidFill>
              <a:srgbClr val="44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2578608" y="347472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578608" y="3474720"/>
            <a:ext cx="1060704" cy="64008"/>
          </a:xfrm>
          <a:prstGeom prst="rect">
            <a:avLst/>
          </a:prstGeom>
          <a:solidFill>
            <a:srgbClr val="BF5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78608" y="354787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F5AFF"/>
                </a:solidFill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78608" y="3840480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ZZFeatureMap
6 Qubit Kernel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791456" y="3931920"/>
            <a:ext cx="91440" cy="0"/>
          </a:xfrm>
          <a:prstGeom prst="line">
            <a:avLst/>
          </a:prstGeom>
          <a:ln w="19050">
            <a:solidFill>
              <a:srgbClr val="4455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730752" y="347472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730752" y="3474720"/>
            <a:ext cx="1060704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30752" y="354787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9FF14"/>
                </a:solidFill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30752" y="3840480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QSVM
+Baseline SVM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82896" y="3474720"/>
            <a:ext cx="1060704" cy="914400"/>
          </a:xfrm>
          <a:prstGeom prst="rect">
            <a:avLst/>
          </a:prstGeom>
          <a:solidFill>
            <a:srgbClr val="12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882896" y="3474720"/>
            <a:ext cx="1060704" cy="64008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82896" y="3547872"/>
            <a:ext cx="1060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FCC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882896" y="3840480"/>
            <a:ext cx="1060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8C5D6"/>
                </a:solidFill>
              </a:rPr>
              <a:t>Risultati
&amp; Grafici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989320" y="2194560"/>
            <a:ext cx="0" cy="128016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274320" y="3474720"/>
            <a:ext cx="571500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74320" y="5303520"/>
            <a:ext cx="11612880" cy="132588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5394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1A"/>
                </a:solidFill>
              </a:rPr>
              <a:t>Note metodologiche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7150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Il subset bilanciato (300 campioni) è necessario per rendere il calcolo del kernel quantistico computazionalmente fattibile.  •  I -1 nel dataset sono trattati come missing e imputati con la mediana.  •  Lo scaling in [-π,π] adatta le feature agli angoli di rotazione della ZZFeatureMap.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02b  |  Feature Selection: PCA(5) + Mutual Information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0040" y="109728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C5D6"/>
                </a:solidFill>
              </a:rPr>
              <a:t>Varianza spiegata PCA + Top-MI Feature</a:t>
            </a:r>
          </a:p>
        </p:txBody>
      </p:sp>
      <p:pic>
        <p:nvPicPr>
          <p:cNvPr id="7" name="Picture 6" descr="pca_plus_mi_6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760720" cy="3253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0972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C5D6"/>
                </a:solidFill>
              </a:rPr>
              <a:t>Mutual Information Scores</a:t>
            </a:r>
          </a:p>
        </p:txBody>
      </p:sp>
      <p:pic>
        <p:nvPicPr>
          <p:cNvPr id="9" name="Picture 8" descr="mi_scores_6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486400" cy="2743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4320" y="5760720"/>
            <a:ext cx="11612880" cy="960120"/>
          </a:xfrm>
          <a:prstGeom prst="rect">
            <a:avLst/>
          </a:prstGeom>
          <a:solidFill>
            <a:srgbClr val="0C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8064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1A"/>
                </a:solidFill>
              </a:rPr>
              <a:t>Motivazione della scelta PCA(5) + 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14476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Una PCA a 4 componenti era insufficiente (accuracy troppo bassa).  Con PCA(5) si cattura più varianza totale  e la top-MI feature aggiunge esplicitamente la dimensione più predittiva del target,  bilanciando informazione non supervisionata e supervisionata nello spazio a 6 dimensioni.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|  Architettura QSVM – 6 Qubit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4320" y="1097280"/>
            <a:ext cx="5029200" cy="5394960"/>
          </a:xfrm>
          <a:prstGeom prst="rect">
            <a:avLst/>
          </a:prstGeom>
          <a:solidFill>
            <a:srgbClr val="10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</a:rPr>
              <a:t>ZZFeatureMap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83080"/>
            <a:ext cx="4663440" cy="640080"/>
          </a:xfrm>
          <a:prstGeom prst="rect">
            <a:avLst/>
          </a:prstGeom>
          <a:solidFill>
            <a:srgbClr val="16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1A"/>
                </a:solidFill>
              </a:rPr>
              <a:t>feature_dimension =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Numero di qubit = dimensioni 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60320"/>
            <a:ext cx="4663440" cy="640080"/>
          </a:xfrm>
          <a:prstGeom prst="rect">
            <a:avLst/>
          </a:prstGeom>
          <a:solidFill>
            <a:srgbClr val="16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1A"/>
                </a:solidFill>
              </a:rPr>
              <a:t>reps =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Profondità circuito contenuta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37560"/>
            <a:ext cx="4663440" cy="640080"/>
          </a:xfrm>
          <a:prstGeom prst="rect">
            <a:avLst/>
          </a:prstGeom>
          <a:solidFill>
            <a:srgbClr val="162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2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41A"/>
                </a:solidFill>
              </a:rPr>
              <a:t>entanglement = full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Interazioni ZZ tra tutti i qubit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062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</a:rPr>
              <a:t>Compute–Uncompute Kernel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B8C5D6"/>
                </a:solidFill>
              </a:rPr>
              <a:t>Per ogni coppia (xᵢ, xⱼ) si costruisce:
  |ψ(xᵢ)⟩  →  U†(xⱼ)  →  misura ⟨0|⁶ |0⟩⁶
Il kernel risultante è la Fidelity Kernel:
  K(xᵢ, xⱼ) = |⟨ψ(xᵢ)|ψ(xⱼ)⟩|²
N_SHOTS = 8192  •  Backend: AerSimulator (statevector)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1430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C5D6"/>
                </a:solidFill>
              </a:rPr>
              <a:t>Circuito ZZFeatureMap (6 qubit)</a:t>
            </a:r>
          </a:p>
        </p:txBody>
      </p:sp>
      <p:pic>
        <p:nvPicPr>
          <p:cNvPr id="20" name="Picture 19" descr="zzfeaturemap_6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554480"/>
            <a:ext cx="6309360" cy="48580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77840" y="416052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8C5D6"/>
                </a:solidFill>
              </a:rPr>
              <a:t>Heatmap Kernel Matrix (K_train)</a:t>
            </a:r>
          </a:p>
        </p:txBody>
      </p:sp>
      <p:pic>
        <p:nvPicPr>
          <p:cNvPr id="22" name="Picture 21" descr="kernel_matrix_6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4526280"/>
            <a:ext cx="6309360" cy="54080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|  Risultati – Modello 6 Qubit (Best Model)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143000"/>
            <a:ext cx="11475720" cy="384048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17043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Modello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17043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17043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Precision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17043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17043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F1-Score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17043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</a:rP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527048"/>
            <a:ext cx="11475720" cy="384048"/>
          </a:xfrm>
          <a:prstGeom prst="rect">
            <a:avLst/>
          </a:prstGeom>
          <a:solidFill>
            <a:srgbClr val="0C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158191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QSVM 6Q (PCA5+MI1)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581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0.627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581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0.600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581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0.730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1581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0.659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581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0.648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911095"/>
            <a:ext cx="11475720" cy="384048"/>
          </a:xfrm>
          <a:prstGeom prst="rect">
            <a:avLst/>
          </a:prstGeom>
          <a:solidFill>
            <a:srgbClr val="0E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19659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SVM Lineare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1965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0.683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295144"/>
            <a:ext cx="11475720" cy="384048"/>
          </a:xfrm>
          <a:prstGeom prst="rect">
            <a:avLst/>
          </a:prstGeom>
          <a:solidFill>
            <a:srgbClr val="1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9" y="2350008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SVM RBF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2350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2350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350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0" y="2350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500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0.679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1143000"/>
            <a:ext cx="2194560" cy="38404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0" y="117043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E1A"/>
                </a:solidFill>
              </a:rPr>
              <a:t>★  BEST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27432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C5D6"/>
                </a:solidFill>
              </a:rPr>
              <a:t>Benchmark Metriche</a:t>
            </a:r>
          </a:p>
        </p:txBody>
      </p:sp>
      <p:pic>
        <p:nvPicPr>
          <p:cNvPr id="37" name="Picture 36" descr="benchmark_metrics_6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063240"/>
            <a:ext cx="5669280" cy="188976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217920" y="27432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8C5D6"/>
                </a:solidFill>
              </a:rPr>
              <a:t>Confusion Matrices</a:t>
            </a:r>
          </a:p>
        </p:txBody>
      </p:sp>
      <p:pic>
        <p:nvPicPr>
          <p:cNvPr id="39" name="Picture 38" descr="confusion_matrices_6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063240"/>
            <a:ext cx="5669280" cy="1511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|  Confronto QSVM: 6 vs 7 vs 8 Qubit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143000"/>
            <a:ext cx="11475720" cy="411480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194560" cy="411480"/>
          </a:xfrm>
          <a:prstGeom prst="rect">
            <a:avLst/>
          </a:prstGeom>
          <a:solidFill>
            <a:srgbClr val="00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17043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0D4FF"/>
                </a:solidFill>
              </a:rPr>
              <a:t>Metrica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143000"/>
            <a:ext cx="3017520" cy="411480"/>
          </a:xfrm>
          <a:prstGeom prst="rect">
            <a:avLst/>
          </a:prstGeom>
          <a:solidFill>
            <a:srgbClr val="0C28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1170432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39FF14"/>
                </a:solidFill>
              </a:rPr>
              <a:t>QSVM 6Q (PCA5+MI1)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143000"/>
            <a:ext cx="3017520" cy="411480"/>
          </a:xfrm>
          <a:prstGeom prst="rect">
            <a:avLst/>
          </a:prstGeom>
          <a:solidFill>
            <a:srgbClr val="2824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0" y="1170432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C41A"/>
                </a:solidFill>
              </a:rPr>
              <a:t>QSVM 7Q (PCA6+MI1)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49640" y="1143000"/>
            <a:ext cx="3017520" cy="411480"/>
          </a:xfrm>
          <a:prstGeom prst="rect">
            <a:avLst/>
          </a:prstGeom>
          <a:solidFill>
            <a:srgbClr val="281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170432"/>
            <a:ext cx="2926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4D6D"/>
                </a:solidFill>
              </a:rPr>
              <a:t>QSVM 8Q (PCA7+MI1)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554480"/>
            <a:ext cx="11475720" cy="384048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59" y="16184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161848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0.627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61848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41A"/>
                </a:solidFill>
              </a:rPr>
              <a:t>0.600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61848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D6D"/>
                </a:solidFill>
              </a:rPr>
              <a:t>0.573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1938528"/>
            <a:ext cx="11475720" cy="384048"/>
          </a:xfrm>
          <a:prstGeom prst="rect">
            <a:avLst/>
          </a:prstGeom>
          <a:solidFill>
            <a:srgbClr val="0C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" y="20025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002536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002536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41A"/>
                </a:solidFill>
              </a:rPr>
              <a:t>0.590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002536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D6D"/>
                </a:solidFill>
              </a:rPr>
              <a:t>0.558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322576"/>
            <a:ext cx="11475720" cy="384048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59" y="238658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2386584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0.730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2386584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41A"/>
                </a:solidFill>
              </a:rPr>
              <a:t>0.622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386584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D6D"/>
                </a:solidFill>
              </a:rPr>
              <a:t>0.649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706624"/>
            <a:ext cx="11475720" cy="384048"/>
          </a:xfrm>
          <a:prstGeom prst="rect">
            <a:avLst/>
          </a:prstGeom>
          <a:solidFill>
            <a:srgbClr val="0C1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9" y="27706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F1-Score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277063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0.659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277063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41A"/>
                </a:solidFill>
              </a:rPr>
              <a:t>0.605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77063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D6D"/>
                </a:solidFill>
              </a:rPr>
              <a:t>0.600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090672"/>
            <a:ext cx="11475720" cy="384048"/>
          </a:xfrm>
          <a:prstGeom prst="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59" y="31546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ROC-AUC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3154679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0.648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3154679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41A"/>
                </a:solidFill>
              </a:rPr>
              <a:t>0.364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154679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D6D"/>
                </a:solidFill>
              </a:rPr>
              <a:t>0.612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493008"/>
            <a:ext cx="11475720" cy="411480"/>
          </a:xfrm>
          <a:prstGeom prst="rect">
            <a:avLst/>
          </a:prstGeom>
          <a:solidFill>
            <a:srgbClr val="28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547872"/>
            <a:ext cx="11155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⚠  ROC-AUC crolla da 0.648 (6Q) → 0.364 (7Q): effetto Kernel Concentration acuto!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" y="39776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41A"/>
                </a:solidFill>
              </a:rPr>
              <a:t>Benchmark 7 Qubit</a:t>
            </a:r>
          </a:p>
        </p:txBody>
      </p:sp>
      <p:pic>
        <p:nvPicPr>
          <p:cNvPr id="43" name="Picture 42" descr="benchmark_metrics_7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297680"/>
            <a:ext cx="5577840" cy="185928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172200" y="3977639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6D"/>
                </a:solidFill>
              </a:rPr>
              <a:t>Benchmark 8 Qubit</a:t>
            </a:r>
          </a:p>
        </p:txBody>
      </p:sp>
      <p:pic>
        <p:nvPicPr>
          <p:cNvPr id="45" name="Picture 44" descr="benchmark_metrics_8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297680"/>
            <a:ext cx="5577840" cy="185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05b  |  Confusion Matrices – Confronto 6 / 7 / 8 Qubit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097280"/>
            <a:ext cx="3794760" cy="347472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2471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9FF14"/>
                </a:solidFill>
              </a:rPr>
              <a:t>6 Qubit (PCA5+MI1)</a:t>
            </a:r>
          </a:p>
        </p:txBody>
      </p:sp>
      <p:pic>
        <p:nvPicPr>
          <p:cNvPr id="8" name="Picture 7" descr="confusion_matrices_6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1328"/>
            <a:ext cx="3794760" cy="101193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43400" y="1097280"/>
            <a:ext cx="3794760" cy="347472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12471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41A"/>
                </a:solidFill>
              </a:rPr>
              <a:t>7 Qubit (PCA6+MI1)</a:t>
            </a:r>
          </a:p>
        </p:txBody>
      </p:sp>
      <p:pic>
        <p:nvPicPr>
          <p:cNvPr id="11" name="Picture 10" descr="confusion_matrices_7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481328"/>
            <a:ext cx="3794760" cy="101193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366760" y="1097280"/>
            <a:ext cx="3794760" cy="347472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12471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4D6D"/>
                </a:solidFill>
              </a:rPr>
              <a:t>8 Qubit (PCA7+MI1)</a:t>
            </a:r>
          </a:p>
        </p:txBody>
      </p:sp>
      <p:pic>
        <p:nvPicPr>
          <p:cNvPr id="14" name="Picture 13" descr="confusion_matrices_8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1481328"/>
            <a:ext cx="3794760" cy="101193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4320" y="6217920"/>
            <a:ext cx="11612880" cy="502920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24535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5D6"/>
                </a:solidFill>
              </a:rPr>
              <a:t>ℹ  Le confusion matrices mostrano come il modello a 6Q tenda a massimizzare il Recall (veri positivi)  mentre quelli a 7Q e 8Q mostrano performance meno consistenti, con pattern d'errore legati alla Kernel Concentration.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06b  |  Kernel Concentration Visiva – Heatmap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097280"/>
            <a:ext cx="3703320" cy="347472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24712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9FF14"/>
                </a:solidFill>
              </a:rPr>
              <a:t>6 Qubit – Pattern visibile</a:t>
            </a:r>
          </a:p>
        </p:txBody>
      </p:sp>
      <p:pic>
        <p:nvPicPr>
          <p:cNvPr id="8" name="Picture 7" descr="kernel_matrix_6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8760"/>
            <a:ext cx="3703320" cy="31742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297679" y="1097280"/>
            <a:ext cx="3703320" cy="347472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124712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C41A"/>
                </a:solidFill>
              </a:rPr>
              <a:t>7 Qubit – Struttura degradata</a:t>
            </a:r>
          </a:p>
        </p:txBody>
      </p:sp>
      <p:pic>
        <p:nvPicPr>
          <p:cNvPr id="11" name="Picture 10" descr="kernel_matrix_7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1508760"/>
            <a:ext cx="3703320" cy="317427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275319" y="1097280"/>
            <a:ext cx="3703320" cy="347472"/>
          </a:xfrm>
          <a:prstGeom prst="rect">
            <a:avLst/>
          </a:prstGeom>
          <a:solidFill>
            <a:srgbClr val="10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59" y="1124712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4D6D"/>
                </a:solidFill>
              </a:rPr>
              <a:t>8 Qubit – Quasi identità</a:t>
            </a:r>
          </a:p>
        </p:txBody>
      </p:sp>
      <p:pic>
        <p:nvPicPr>
          <p:cNvPr id="14" name="Picture 13" descr="kernel_matrix_8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19" y="1508760"/>
            <a:ext cx="3703320" cy="317427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74320" y="5943600"/>
            <a:ext cx="11612880" cy="804672"/>
          </a:xfrm>
          <a:prstGeom prst="rect">
            <a:avLst/>
          </a:prstGeom>
          <a:solidFill>
            <a:srgbClr val="0A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971032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5D6"/>
                </a:solidFill>
              </a:rPr>
              <a:t>📊  Come leggere le heatmap: colori diversi = alta fidelity tra coppie diverse (kernel informativo).
     All'aumentare dei qubit le matrici si 'appiattiscono': la diagonale diventa dominante → segnale classico di Kernel Concentration (tutti i punti sembrano ortogonali).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  |  Perché Più Qubit Peggiorano i Risultati?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20040" y="1188720"/>
            <a:ext cx="3611880" cy="5120640"/>
          </a:xfrm>
          <a:prstGeom prst="rect">
            <a:avLst/>
          </a:prstGeom>
          <a:solidFill>
            <a:srgbClr val="10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3611880" cy="73152"/>
          </a:xfrm>
          <a:prstGeom prst="rect">
            <a:avLst/>
          </a:prstGeom>
          <a:solidFill>
            <a:srgbClr val="FF4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4D6D"/>
                </a:solidFill>
              </a:rPr>
              <a:t>1. Kernel Concentration
(Exponential Concentration)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2148840"/>
            <a:ext cx="3337559" cy="0"/>
          </a:xfrm>
          <a:prstGeom prst="line">
            <a:avLst/>
          </a:prstGeom>
          <a:ln w="9525">
            <a:solidFill>
              <a:srgbClr val="FF4D6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228600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6"/>
                </a:solidFill>
              </a:rPr>
              <a:t>La ZZFeatureMap mappa i dati in uno spazio di Hilbert di dimensione 2ᴺ.
Aumentando N da 6 → 8 i vettori di stato diventano quasi ortogonali:
il kernel collassa verso la matrice identità e la QSVM perde capacità di generalizzare.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188720"/>
            <a:ext cx="3611880" cy="5120640"/>
          </a:xfrm>
          <a:prstGeom prst="rect">
            <a:avLst/>
          </a:prstGeom>
          <a:solidFill>
            <a:srgbClr val="10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87952" y="1188720"/>
            <a:ext cx="3611880" cy="73152"/>
          </a:xfrm>
          <a:prstGeom prst="rect">
            <a:avLst/>
          </a:prstGeom>
          <a:solidFill>
            <a:srgbClr val="FF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32588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41A"/>
                </a:solidFill>
              </a:rPr>
              <a:t>2. Rumore dalle componenti
PCA aggiuntive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25112" y="2148840"/>
            <a:ext cx="3337560" cy="0"/>
          </a:xfrm>
          <a:prstGeom prst="line">
            <a:avLst/>
          </a:prstGeom>
          <a:ln w="9525">
            <a:solidFill>
              <a:srgbClr val="FFC4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25112" y="228600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6"/>
                </a:solidFill>
              </a:rPr>
              <a:t>La 6ª e 7ª componente PCA catturano frazioni minime di varianza.
In una codifica non lineare come la ZZFeatureMap, feature a bassa varianza
introducono 'rumore quantistico' che disturba la separazione delle classi.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55864" y="1188720"/>
            <a:ext cx="3611880" cy="5120640"/>
          </a:xfrm>
          <a:prstGeom prst="rect">
            <a:avLst/>
          </a:prstGeom>
          <a:solidFill>
            <a:srgbClr val="101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55864" y="1188720"/>
            <a:ext cx="361188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4" y="1325880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3. Curse of Dimensionality
Quantistica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93024" y="2148840"/>
            <a:ext cx="3337560" cy="0"/>
          </a:xfrm>
          <a:prstGeom prst="line">
            <a:avLst/>
          </a:prstGeom>
          <a:ln w="9525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93024" y="2286000"/>
            <a:ext cx="3337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8C5D6"/>
                </a:solidFill>
              </a:rPr>
              <a:t>Lo spazio degli stati cresce esponenzialmente con N.
Con soli 300 campioni, la densità dei punti in 2⁸ = 256 dimensioni
è troppo bassa → overfitting sul training, calo dell'accuracy sul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6355080"/>
            <a:ext cx="11475720" cy="365760"/>
          </a:xfrm>
          <a:prstGeom prst="rect">
            <a:avLst/>
          </a:prstGeom>
          <a:solidFill>
            <a:srgbClr val="08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373368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</a:rPr>
              <a:t>dim(ℋ) = 2ᴺ   →   6 qubit: 64 dim  |  7 qubit: 128 dim  |  8 qubit: 256 dim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" y="0"/>
            <a:ext cx="12115800" cy="100584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|  Conclusioni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5760" y="1005840"/>
            <a:ext cx="11430000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74320" y="1188720"/>
            <a:ext cx="5577840" cy="521208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577840" cy="6400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9FF14"/>
                </a:solidFill>
              </a:rPr>
              <a:t>✅  Risultati Chiave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530352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8366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▶  Il modello a 6 qubit (PCA5+MI1) è il best performer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128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Accuracy 0.627, F1 0.659, ROC-AUC 0.648 – migliore tra tutte le versioni QSVM.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97480"/>
            <a:ext cx="530352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523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▶  Recall elevato (0.730)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8152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La QSVM a 6Q identifica il 73% delle frodi reali, priorità in fraud detection.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66160"/>
            <a:ext cx="530352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6210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▶  L'aumento dei qubit degrada le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5020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7Q e 8Q mostrano cali progressivi in tutte le metriche per Kernel Concentration.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434840"/>
            <a:ext cx="530352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8970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▶  ROC-AUC crollato a 0.364 con 7Q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1888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Il fenomeno di concentrazione del kernel è particolarmente acuto con 7 qubit.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303520"/>
            <a:ext cx="530352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58383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▶  Il vantaggio quantistico non è garantito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6875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SVM RBF classica ottiene Accuracy 0.640 con costo computazionale molto inferiore.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88720"/>
            <a:ext cx="5715000" cy="5212080"/>
          </a:xfrm>
          <a:prstGeom prst="rect">
            <a:avLst/>
          </a:prstGeom>
          <a:solidFill>
            <a:srgbClr val="0E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188720"/>
            <a:ext cx="5715000" cy="6400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🚀  Sviluppi Futuri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828800"/>
            <a:ext cx="544068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88366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◆  Quantum Advantage con hardware reale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21284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Testare su hardware IBM Quantum o IonQ per validare i risultati su circuiti reali.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697480"/>
            <a:ext cx="544068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75234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◆  Ottimizzazione del kernel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08152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Esplorare kernel ibridi classici-quantistici o Projected Quantum Kernel (PQK).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566160"/>
            <a:ext cx="544068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621024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◆  Più dati di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5020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Aumentare il subset bilanciato oltre 300 campioni con tecniche di ottimizzazione.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434840"/>
            <a:ext cx="544068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489703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◆  Architetture alternative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1888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Quantum feature maps variazionali (VQC) ottimizzate per dati tabulari.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5303520"/>
            <a:ext cx="5440680" cy="749808"/>
          </a:xfrm>
          <a:prstGeom prst="rect">
            <a:avLst/>
          </a:prstGeom>
          <a:solidFill>
            <a:srgbClr val="14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358383"/>
            <a:ext cx="5166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◆  Dataset più grandi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5687568"/>
            <a:ext cx="51663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5D6"/>
                </a:solidFill>
              </a:rPr>
              <a:t>Applicare la pipeline QSVM a altri domini: healthcare, cybersecurity, credit scoring.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6446520"/>
            <a:ext cx="11612880" cy="32004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46480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41A"/>
                </a:solidFill>
              </a:rPr>
              <a:t>Sweet spot identificato: 6 Qubit (PCA5+MI1) con ZZFeatureMap, reps=1, entanglement=full, N_SHOTS=8192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" y="2011680"/>
            <a:ext cx="12115800" cy="2743200"/>
          </a:xfrm>
          <a:prstGeom prst="rect">
            <a:avLst/>
          </a:prstGeom>
          <a:solidFill>
            <a:srgbClr val="0D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Grazie per l'attenzione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61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00D4FF"/>
                </a:solidFill>
              </a:rPr>
              <a:t>Domande?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3977639"/>
            <a:ext cx="8531352" cy="0"/>
          </a:xfrm>
          <a:prstGeom prst="line">
            <a:avLst/>
          </a:prstGeom>
          <a:ln w="1270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8C5D6"/>
                </a:solidFill>
              </a:rPr>
              <a:t>QSVM • Bank Account Fraud Detection • Quantum Kernel • ZZFeatureMap • 6 Qubit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7088"/>
                </a:solidFill>
              </a:rPr>
              <a:t>Codice: qsvm_baf_6qubit_pca5_mi1.py  •  Dataset: BAF NeurIPS 2022  •  Framework: Qiskit 1.1.1 + scikit-learn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8C5D6"/>
                </a:solidFill>
              </a:rPr>
              <a:t>Università degli Studi  •  Progetto di Quantum Computing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